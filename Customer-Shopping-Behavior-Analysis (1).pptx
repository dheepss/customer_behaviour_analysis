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Gelasio Semi Bold"/>
      <p:regular r:id="rId17"/>
    </p:embeddedFont>
    <p:embeddedFont>
      <p:font typeface="Gelasio Semi Bold"/>
      <p:regular r:id="rId18"/>
    </p:embeddedFont>
    <p:embeddedFont>
      <p:font typeface="Gelasio Semi Bold"/>
      <p:regular r:id="rId19"/>
    </p:embeddedFont>
    <p:embeddedFont>
      <p:font typeface="Gelasio Semi Bold"/>
      <p:regular r:id="rId20"/>
    </p:embeddedFont>
    <p:embeddedFont>
      <p:font typeface="Gelasio"/>
      <p:regular r:id="rId21"/>
    </p:embeddedFont>
    <p:embeddedFont>
      <p:font typeface="Gelasio"/>
      <p:regular r:id="rId22"/>
    </p:embeddedFont>
    <p:embeddedFont>
      <p:font typeface="Gelasio"/>
      <p:regular r:id="rId23"/>
    </p:embeddedFont>
    <p:embeddedFont>
      <p:font typeface="Gelasio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slideLayout" Target="../slideLayouts/slideLayout11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69152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44924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Uncovering spending patterns, customer segments, product preferences, and subscription behavior from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3,900 transactions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to guide strategic business decisions.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376" y="585788"/>
            <a:ext cx="5138976" cy="642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Dataset at a Glance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19376" y="1703427"/>
            <a:ext cx="6479381" cy="678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300"/>
              </a:lnSpc>
              <a:buNone/>
            </a:pPr>
            <a:r>
              <a:rPr lang="en-US" sz="53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3,900</a:t>
            </a:r>
            <a:endParaRPr lang="en-US" sz="5300" dirty="0"/>
          </a:p>
        </p:txBody>
      </p:sp>
      <p:sp>
        <p:nvSpPr>
          <p:cNvPr id="4" name="Text 2"/>
          <p:cNvSpPr/>
          <p:nvPr/>
        </p:nvSpPr>
        <p:spPr>
          <a:xfrm>
            <a:off x="2674263" y="2624137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Transactions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431524" y="1703427"/>
            <a:ext cx="6479500" cy="678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300"/>
              </a:lnSpc>
              <a:buNone/>
            </a:pPr>
            <a:r>
              <a:rPr lang="en-US" sz="53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18</a:t>
            </a:r>
            <a:endParaRPr lang="en-US" sz="5300" dirty="0"/>
          </a:p>
        </p:txBody>
      </p:sp>
      <p:sp>
        <p:nvSpPr>
          <p:cNvPr id="6" name="Text 4"/>
          <p:cNvSpPr/>
          <p:nvPr/>
        </p:nvSpPr>
        <p:spPr>
          <a:xfrm>
            <a:off x="9386530" y="2624137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Columns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19376" y="3420547"/>
            <a:ext cx="6479381" cy="678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300"/>
              </a:lnSpc>
              <a:buNone/>
            </a:pPr>
            <a:r>
              <a:rPr lang="en-US" sz="53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$59.76</a:t>
            </a:r>
            <a:endParaRPr lang="en-US" sz="5300" dirty="0"/>
          </a:p>
        </p:txBody>
      </p:sp>
      <p:sp>
        <p:nvSpPr>
          <p:cNvPr id="8" name="Text 6"/>
          <p:cNvSpPr/>
          <p:nvPr/>
        </p:nvSpPr>
        <p:spPr>
          <a:xfrm>
            <a:off x="2674263" y="4341257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Avg. Purchase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431524" y="3420547"/>
            <a:ext cx="6479500" cy="678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300"/>
              </a:lnSpc>
              <a:buNone/>
            </a:pPr>
            <a:r>
              <a:rPr lang="en-US" sz="53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3.75</a:t>
            </a:r>
            <a:endParaRPr lang="en-US" sz="5300" dirty="0"/>
          </a:p>
        </p:txBody>
      </p:sp>
      <p:sp>
        <p:nvSpPr>
          <p:cNvPr id="10" name="Text 8"/>
          <p:cNvSpPr/>
          <p:nvPr/>
        </p:nvSpPr>
        <p:spPr>
          <a:xfrm>
            <a:off x="9386530" y="4341257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Avg. Rating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19376" y="4941689"/>
            <a:ext cx="2569488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Key Features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19376" y="5542121"/>
            <a:ext cx="13191649" cy="1070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6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Demographics:</a:t>
            </a:r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Age, Gender, Location, Subscription Status</a:t>
            </a:r>
            <a:endParaRPr lang="en-US" sz="1600" dirty="0"/>
          </a:p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6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Purchase Details:</a:t>
            </a:r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Category, Amount, Season, Size, Color</a:t>
            </a:r>
            <a:endParaRPr lang="en-US" sz="1600" dirty="0"/>
          </a:p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6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Behavior:</a:t>
            </a:r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Discounts, Promo Codes, Purchase Frequency, Shipping Type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19376" y="6822400"/>
            <a:ext cx="13191649" cy="821412"/>
          </a:xfrm>
          <a:prstGeom prst="roundRect">
            <a:avLst>
              <a:gd name="adj" fmla="val 3754"/>
            </a:avLst>
          </a:prstGeom>
          <a:solidFill>
            <a:srgbClr val="E2D9CF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878" y="7112675"/>
            <a:ext cx="256937" cy="20550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387316" y="7059930"/>
            <a:ext cx="12318206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37 missing values in Review Rating — imputed using category median.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4611" y="602337"/>
            <a:ext cx="6708577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Data Preparation in Python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94611" y="1482804"/>
            <a:ext cx="396835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01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694611" y="1797129"/>
            <a:ext cx="7754779" cy="22860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6" name="Text 3"/>
          <p:cNvSpPr/>
          <p:nvPr/>
        </p:nvSpPr>
        <p:spPr>
          <a:xfrm>
            <a:off x="694611" y="194202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Load &amp; Explore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694611" y="2356366"/>
            <a:ext cx="7754779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Imported dataset with 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; used 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and 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.describe()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for initial inspection.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94611" y="2991683"/>
            <a:ext cx="396835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02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694611" y="3306008"/>
            <a:ext cx="7754779" cy="22860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10" name="Text 7"/>
          <p:cNvSpPr/>
          <p:nvPr/>
        </p:nvSpPr>
        <p:spPr>
          <a:xfrm>
            <a:off x="694611" y="345090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Clean &amp; Standardize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694611" y="3865245"/>
            <a:ext cx="7754779" cy="610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Imputed missing Review Ratings; renamed columns to snake_case; dropped redundant 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promo_code_used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.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694611" y="4798219"/>
            <a:ext cx="396835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694611" y="5112544"/>
            <a:ext cx="7754779" cy="22860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14" name="Text 11"/>
          <p:cNvSpPr/>
          <p:nvPr/>
        </p:nvSpPr>
        <p:spPr>
          <a:xfrm>
            <a:off x="694611" y="5257443"/>
            <a:ext cx="250709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Feature Engineering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694611" y="5671780"/>
            <a:ext cx="7754779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Created 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bins and 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746558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purchase_frequency_days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from purchase data.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694611" y="6307098"/>
            <a:ext cx="396835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04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694611" y="6621423"/>
            <a:ext cx="7754779" cy="22860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18" name="Text 15"/>
          <p:cNvSpPr/>
          <p:nvPr/>
        </p:nvSpPr>
        <p:spPr>
          <a:xfrm>
            <a:off x="694611" y="6766322"/>
            <a:ext cx="258020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Database Integration</a:t>
            </a:r>
            <a:endParaRPr lang="en-US" sz="1950" dirty="0"/>
          </a:p>
        </p:txBody>
      </p:sp>
      <p:sp>
        <p:nvSpPr>
          <p:cNvPr id="19" name="Text 16"/>
          <p:cNvSpPr/>
          <p:nvPr/>
        </p:nvSpPr>
        <p:spPr>
          <a:xfrm>
            <a:off x="694611" y="7180659"/>
            <a:ext cx="7754779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Loaded cleaned DataFrame into </a:t>
            </a:r>
            <a:pPr algn="l" indent="0" marL="0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PostgreSQL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for structured SQL analysis.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86627"/>
            <a:ext cx="816947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Revenue &amp; Spending Insights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890718"/>
            <a:ext cx="6244709" cy="36934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2493" y="3778448"/>
            <a:ext cx="234315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158k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3629954" y="5416748"/>
            <a:ext cx="256818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75.2k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7599521" y="28623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Key Findings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599521" y="3443526"/>
            <a:ext cx="6244709" cy="2336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Male customers generated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$157,890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vs. female customers'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$75,191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in total revenue.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839 customers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used discounts yet still spent above the average purchase amount.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Express shipping users averaged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$60.48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vs. Standard at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$58.46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— a modest but notable difference.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8491"/>
            <a:ext cx="632126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Revenue by Age Group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562582"/>
            <a:ext cx="6244709" cy="36934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26367" y="3040737"/>
            <a:ext cx="256818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62.1k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6168157" y="3859887"/>
            <a:ext cx="256818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59.2k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5969539" y="4679037"/>
            <a:ext cx="186452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56k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5880541" y="5498187"/>
            <a:ext cx="256818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55.8k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7599521" y="2534245"/>
            <a:ext cx="315658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Age Group Breakdown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599521" y="3115389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Young Adults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lead revenue contribution at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$62,143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, followed closely by Middle-aged customers at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$59,197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.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599521" y="4045268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All age groups contribute meaningfully, with Seniors at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$55,763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— indicating broad demographic reach.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7599521" y="5026223"/>
            <a:ext cx="6244709" cy="1689616"/>
          </a:xfrm>
          <a:prstGeom prst="roundRect">
            <a:avLst>
              <a:gd name="adj" fmla="val 2014"/>
            </a:avLst>
          </a:prstGeom>
          <a:solidFill>
            <a:srgbClr val="B6D6F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6335" y="5355074"/>
            <a:ext cx="283488" cy="22681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336637" y="5309711"/>
            <a:ext cx="528077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Targeted marketing toward Young Adults and Middle-aged segments offers the highest revenue upside.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66919"/>
            <a:ext cx="601694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Product Performance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42674"/>
            <a:ext cx="349496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Top 5 Products by Rating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93790" y="2952155"/>
            <a:ext cx="6244709" cy="3955256"/>
          </a:xfrm>
          <a:prstGeom prst="roundRect">
            <a:avLst>
              <a:gd name="adj" fmla="val 860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343" y="3103483"/>
            <a:ext cx="266104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Product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143018" y="3103483"/>
            <a:ext cx="266104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Avg. Rating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028343" y="3761423"/>
            <a:ext cx="266104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Gloves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4143018" y="3761423"/>
            <a:ext cx="266104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3.86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028343" y="4419362"/>
            <a:ext cx="266104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Sandals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4143018" y="4419362"/>
            <a:ext cx="266104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3.84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1028343" y="5077301"/>
            <a:ext cx="266104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Boots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4143018" y="5077301"/>
            <a:ext cx="266104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3.82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028343" y="5735241"/>
            <a:ext cx="266104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Hat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4143018" y="5735241"/>
            <a:ext cx="266104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3.80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1028343" y="6393180"/>
            <a:ext cx="266104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Skirt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4143018" y="6393180"/>
            <a:ext cx="266104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3.78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7599521" y="2342674"/>
            <a:ext cx="357449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Top Products by Category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7599521" y="2952155"/>
            <a:ext cx="6244709" cy="3297317"/>
          </a:xfrm>
          <a:prstGeom prst="roundRect">
            <a:avLst>
              <a:gd name="adj" fmla="val 103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34789" y="3103483"/>
            <a:ext cx="162234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Category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9910763" y="3103483"/>
            <a:ext cx="162234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#1 Product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11986736" y="3103483"/>
            <a:ext cx="162234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Orders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7834789" y="3761423"/>
            <a:ext cx="162234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Accessories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9910763" y="3761423"/>
            <a:ext cx="162234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Jewelry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11986736" y="3761423"/>
            <a:ext cx="162234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171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7834789" y="4419362"/>
            <a:ext cx="162234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Clothing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9910763" y="4419362"/>
            <a:ext cx="162234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Blouse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11986736" y="4419362"/>
            <a:ext cx="162234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171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7834789" y="5077301"/>
            <a:ext cx="162234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Footwear</a:t>
            </a:r>
            <a:endParaRPr lang="en-US" sz="1750" dirty="0"/>
          </a:p>
        </p:txBody>
      </p:sp>
      <p:sp>
        <p:nvSpPr>
          <p:cNvPr id="29" name="Text 27"/>
          <p:cNvSpPr/>
          <p:nvPr/>
        </p:nvSpPr>
        <p:spPr>
          <a:xfrm>
            <a:off x="9910763" y="5077301"/>
            <a:ext cx="162234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Sandals</a:t>
            </a:r>
            <a:endParaRPr lang="en-US" sz="1750" dirty="0"/>
          </a:p>
        </p:txBody>
      </p:sp>
      <p:sp>
        <p:nvSpPr>
          <p:cNvPr id="30" name="Text 28"/>
          <p:cNvSpPr/>
          <p:nvPr/>
        </p:nvSpPr>
        <p:spPr>
          <a:xfrm>
            <a:off x="11986736" y="5077301"/>
            <a:ext cx="162234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160</a:t>
            </a:r>
            <a:endParaRPr lang="en-US" sz="1750" dirty="0"/>
          </a:p>
        </p:txBody>
      </p:sp>
      <p:sp>
        <p:nvSpPr>
          <p:cNvPr id="31" name="Text 29"/>
          <p:cNvSpPr/>
          <p:nvPr/>
        </p:nvSpPr>
        <p:spPr>
          <a:xfrm>
            <a:off x="7834789" y="5735241"/>
            <a:ext cx="162234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Outerwear</a:t>
            </a:r>
            <a:endParaRPr lang="en-US" sz="1750" dirty="0"/>
          </a:p>
        </p:txBody>
      </p:sp>
      <p:sp>
        <p:nvSpPr>
          <p:cNvPr id="32" name="Text 30"/>
          <p:cNvSpPr/>
          <p:nvPr/>
        </p:nvSpPr>
        <p:spPr>
          <a:xfrm>
            <a:off x="9910763" y="5735241"/>
            <a:ext cx="162234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Jacket</a:t>
            </a:r>
            <a:endParaRPr lang="en-US" sz="1750" dirty="0"/>
          </a:p>
        </p:txBody>
      </p:sp>
      <p:sp>
        <p:nvSpPr>
          <p:cNvPr id="33" name="Text 31"/>
          <p:cNvSpPr/>
          <p:nvPr/>
        </p:nvSpPr>
        <p:spPr>
          <a:xfrm>
            <a:off x="11986736" y="5735241"/>
            <a:ext cx="162234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163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2228" y="574477"/>
            <a:ext cx="8153638" cy="609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50"/>
              </a:lnSpc>
              <a:buNone/>
            </a:pPr>
            <a:r>
              <a:rPr lang="en-US" sz="38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Discount &amp; Subscription Behavior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82228" y="1250513"/>
            <a:ext cx="3629025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Discount-Dependent Products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82228" y="1806297"/>
            <a:ext cx="13265944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Products with the highest share of discounted purchases: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2228" y="2381964"/>
            <a:ext cx="2498765" cy="243602"/>
          </a:xfrm>
          <a:prstGeom prst="roundRect">
            <a:avLst>
              <a:gd name="adj" fmla="val 12003"/>
            </a:avLst>
          </a:prstGeom>
          <a:solidFill>
            <a:srgbClr val="EEE8DD"/>
          </a:solidFill>
          <a:ln/>
        </p:spPr>
      </p:sp>
      <p:sp>
        <p:nvSpPr>
          <p:cNvPr id="6" name="Shape 4"/>
          <p:cNvSpPr/>
          <p:nvPr/>
        </p:nvSpPr>
        <p:spPr>
          <a:xfrm>
            <a:off x="682228" y="2381964"/>
            <a:ext cx="1249323" cy="243602"/>
          </a:xfrm>
          <a:prstGeom prst="roundRect">
            <a:avLst>
              <a:gd name="adj" fmla="val 12003"/>
            </a:avLst>
          </a:prstGeom>
          <a:solidFill>
            <a:srgbClr val="D3C5B6"/>
          </a:solidFill>
          <a:ln/>
        </p:spPr>
      </p:sp>
      <p:sp>
        <p:nvSpPr>
          <p:cNvPr id="7" name="Text 5"/>
          <p:cNvSpPr/>
          <p:nvPr/>
        </p:nvSpPr>
        <p:spPr>
          <a:xfrm>
            <a:off x="3327083" y="2381964"/>
            <a:ext cx="514588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9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50%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82228" y="2848570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Hat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050982" y="2381964"/>
            <a:ext cx="2121098" cy="243602"/>
          </a:xfrm>
          <a:prstGeom prst="roundRect">
            <a:avLst>
              <a:gd name="adj" fmla="val 12003"/>
            </a:avLst>
          </a:prstGeom>
          <a:solidFill>
            <a:srgbClr val="EEE8DD"/>
          </a:solidFill>
          <a:ln/>
        </p:spPr>
      </p:sp>
      <p:sp>
        <p:nvSpPr>
          <p:cNvPr id="10" name="Shape 8"/>
          <p:cNvSpPr/>
          <p:nvPr/>
        </p:nvSpPr>
        <p:spPr>
          <a:xfrm>
            <a:off x="4050982" y="2381964"/>
            <a:ext cx="1053227" cy="243602"/>
          </a:xfrm>
          <a:prstGeom prst="roundRect">
            <a:avLst>
              <a:gd name="adj" fmla="val 12003"/>
            </a:avLst>
          </a:prstGeom>
          <a:solidFill>
            <a:srgbClr val="D3C5B6"/>
          </a:solidFill>
          <a:ln/>
        </p:spPr>
      </p:sp>
      <p:sp>
        <p:nvSpPr>
          <p:cNvPr id="11" name="Text 9"/>
          <p:cNvSpPr/>
          <p:nvPr/>
        </p:nvSpPr>
        <p:spPr>
          <a:xfrm>
            <a:off x="6318171" y="2381964"/>
            <a:ext cx="892373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9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49.66%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050982" y="2848570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Sneakers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419856" y="2381964"/>
            <a:ext cx="2129076" cy="243602"/>
          </a:xfrm>
          <a:prstGeom prst="roundRect">
            <a:avLst>
              <a:gd name="adj" fmla="val 12003"/>
            </a:avLst>
          </a:prstGeom>
          <a:solidFill>
            <a:srgbClr val="EEE8DD"/>
          </a:solidFill>
          <a:ln/>
        </p:spPr>
      </p:sp>
      <p:sp>
        <p:nvSpPr>
          <p:cNvPr id="14" name="Shape 12"/>
          <p:cNvSpPr/>
          <p:nvPr/>
        </p:nvSpPr>
        <p:spPr>
          <a:xfrm>
            <a:off x="7419856" y="2381964"/>
            <a:ext cx="1044654" cy="243602"/>
          </a:xfrm>
          <a:prstGeom prst="roundRect">
            <a:avLst>
              <a:gd name="adj" fmla="val 12003"/>
            </a:avLst>
          </a:prstGeom>
          <a:solidFill>
            <a:srgbClr val="D3C5B6"/>
          </a:solidFill>
          <a:ln/>
        </p:spPr>
      </p:sp>
      <p:sp>
        <p:nvSpPr>
          <p:cNvPr id="15" name="Text 13"/>
          <p:cNvSpPr/>
          <p:nvPr/>
        </p:nvSpPr>
        <p:spPr>
          <a:xfrm>
            <a:off x="9695021" y="2381964"/>
            <a:ext cx="884277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9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49.07%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419856" y="2848570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Coat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10788610" y="2381964"/>
            <a:ext cx="2171462" cy="243602"/>
          </a:xfrm>
          <a:prstGeom prst="roundRect">
            <a:avLst>
              <a:gd name="adj" fmla="val 12003"/>
            </a:avLst>
          </a:prstGeom>
          <a:solidFill>
            <a:srgbClr val="EEE8DD"/>
          </a:solidFill>
          <a:ln/>
        </p:spPr>
      </p:sp>
      <p:sp>
        <p:nvSpPr>
          <p:cNvPr id="18" name="Shape 16"/>
          <p:cNvSpPr/>
          <p:nvPr/>
        </p:nvSpPr>
        <p:spPr>
          <a:xfrm>
            <a:off x="10788610" y="2381964"/>
            <a:ext cx="1045964" cy="243602"/>
          </a:xfrm>
          <a:prstGeom prst="roundRect">
            <a:avLst>
              <a:gd name="adj" fmla="val 12003"/>
            </a:avLst>
          </a:prstGeom>
          <a:solidFill>
            <a:srgbClr val="D3C5B6"/>
          </a:solidFill>
          <a:ln/>
        </p:spPr>
      </p:sp>
      <p:sp>
        <p:nvSpPr>
          <p:cNvPr id="19" name="Text 17"/>
          <p:cNvSpPr/>
          <p:nvPr/>
        </p:nvSpPr>
        <p:spPr>
          <a:xfrm>
            <a:off x="13106162" y="2381964"/>
            <a:ext cx="842010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9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48.17%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10788610" y="2848570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Sweater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682228" y="3585448"/>
            <a:ext cx="2167057" cy="243602"/>
          </a:xfrm>
          <a:prstGeom prst="roundRect">
            <a:avLst>
              <a:gd name="adj" fmla="val 12003"/>
            </a:avLst>
          </a:prstGeom>
          <a:solidFill>
            <a:srgbClr val="EEE8DD"/>
          </a:solidFill>
          <a:ln/>
        </p:spPr>
      </p:sp>
      <p:sp>
        <p:nvSpPr>
          <p:cNvPr id="22" name="Shape 20"/>
          <p:cNvSpPr/>
          <p:nvPr/>
        </p:nvSpPr>
        <p:spPr>
          <a:xfrm>
            <a:off x="682228" y="3585448"/>
            <a:ext cx="1026438" cy="243602"/>
          </a:xfrm>
          <a:prstGeom prst="roundRect">
            <a:avLst>
              <a:gd name="adj" fmla="val 12003"/>
            </a:avLst>
          </a:prstGeom>
          <a:solidFill>
            <a:srgbClr val="D3C5B6"/>
          </a:solidFill>
          <a:ln/>
        </p:spPr>
      </p:sp>
      <p:sp>
        <p:nvSpPr>
          <p:cNvPr id="23" name="Text 21"/>
          <p:cNvSpPr/>
          <p:nvPr/>
        </p:nvSpPr>
        <p:spPr>
          <a:xfrm>
            <a:off x="2995374" y="3585448"/>
            <a:ext cx="846296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9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47.37%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82228" y="4052054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Pants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682228" y="4607838"/>
            <a:ext cx="3896082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Subscribers vs. Non-Subscribers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682228" y="5163622"/>
            <a:ext cx="13265944" cy="1548884"/>
          </a:xfrm>
          <a:prstGeom prst="roundRect">
            <a:avLst>
              <a:gd name="adj" fmla="val 188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4753" y="5279350"/>
            <a:ext cx="2919055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Status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201239" y="5279350"/>
            <a:ext cx="2915245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Customers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513915" y="5279350"/>
            <a:ext cx="2915245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Avg. Spend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0826591" y="5279350"/>
            <a:ext cx="2919055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Total Revenue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84753" y="5793105"/>
            <a:ext cx="2919055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Subscribed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201239" y="5793105"/>
            <a:ext cx="2915245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1,053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513915" y="5793105"/>
            <a:ext cx="2915245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$59.49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0826591" y="5793105"/>
            <a:ext cx="2919055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$62,645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84753" y="6306860"/>
            <a:ext cx="2919055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Non-Subscribed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4201239" y="6306860"/>
            <a:ext cx="2915245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2,847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7513915" y="6306860"/>
            <a:ext cx="2915245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$59.87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0826591" y="6306860"/>
            <a:ext cx="2919055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$170,436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682228" y="6900863"/>
            <a:ext cx="13265944" cy="754142"/>
          </a:xfrm>
          <a:prstGeom prst="roundRect">
            <a:avLst>
              <a:gd name="adj" fmla="val 3877"/>
            </a:avLst>
          </a:prstGeom>
          <a:solidFill>
            <a:srgbClr val="B6D6FC"/>
          </a:solidFill>
          <a:ln/>
        </p:spPr>
      </p:sp>
      <p:pic>
        <p:nvPicPr>
          <p:cNvPr id="4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133" y="7171968"/>
            <a:ext cx="243602" cy="194905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1315641" y="7116961"/>
            <a:ext cx="12437626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Average spend is nearly identical — subscription drives volume, not higher individual spend.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1407" y="628769"/>
            <a:ext cx="6644878" cy="697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50"/>
              </a:lnSpc>
              <a:buNone/>
            </a:pPr>
            <a:r>
              <a:rPr lang="en-US" sz="43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Customer Segmentation</a:t>
            </a:r>
            <a:endParaRPr lang="en-US" sz="4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407" y="1979533"/>
            <a:ext cx="6261497" cy="35648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310811" y="5042497"/>
            <a:ext cx="23598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79.9%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1959457" y="2315811"/>
            <a:ext cx="2839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17.97%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2966110" y="1926193"/>
            <a:ext cx="23598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2.13%</a:t>
            </a:r>
            <a:endParaRPr lang="en-US" sz="650" dirty="0"/>
          </a:p>
        </p:txBody>
      </p:sp>
      <p:sp>
        <p:nvSpPr>
          <p:cNvPr id="7" name="Shape 4"/>
          <p:cNvSpPr/>
          <p:nvPr/>
        </p:nvSpPr>
        <p:spPr>
          <a:xfrm>
            <a:off x="5063728" y="3400544"/>
            <a:ext cx="806648" cy="164544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7068" y="3437096"/>
            <a:ext cx="91440" cy="914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35178" y="3423404"/>
            <a:ext cx="578048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746558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Loyal·79.9%</a:t>
            </a:r>
            <a:endParaRPr lang="en-US" sz="700" dirty="0"/>
          </a:p>
        </p:txBody>
      </p:sp>
      <p:sp>
        <p:nvSpPr>
          <p:cNvPr id="10" name="Text 6"/>
          <p:cNvSpPr/>
          <p:nvPr/>
        </p:nvSpPr>
        <p:spPr>
          <a:xfrm>
            <a:off x="5458182" y="3423404"/>
            <a:ext cx="355044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746558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·79.9%</a:t>
            </a:r>
            <a:endParaRPr lang="en-US" sz="700" dirty="0"/>
          </a:p>
        </p:txBody>
      </p:sp>
      <p:sp>
        <p:nvSpPr>
          <p:cNvPr id="11" name="Text 7"/>
          <p:cNvSpPr/>
          <p:nvPr/>
        </p:nvSpPr>
        <p:spPr>
          <a:xfrm>
            <a:off x="5494734" y="3423404"/>
            <a:ext cx="24527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746558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700" dirty="0"/>
          </a:p>
        </p:txBody>
      </p:sp>
      <p:sp>
        <p:nvSpPr>
          <p:cNvPr id="12" name="Shape 8"/>
          <p:cNvSpPr/>
          <p:nvPr/>
        </p:nvSpPr>
        <p:spPr>
          <a:xfrm>
            <a:off x="5063728" y="3626048"/>
            <a:ext cx="1064657" cy="164544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7068" y="3662601"/>
            <a:ext cx="91440" cy="914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235178" y="3648908"/>
            <a:ext cx="836057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746558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Returning·17.97%</a:t>
            </a:r>
            <a:endParaRPr lang="en-US" sz="700" dirty="0"/>
          </a:p>
        </p:txBody>
      </p:sp>
      <p:sp>
        <p:nvSpPr>
          <p:cNvPr id="15" name="Text 10"/>
          <p:cNvSpPr/>
          <p:nvPr/>
        </p:nvSpPr>
        <p:spPr>
          <a:xfrm>
            <a:off x="5663803" y="3648908"/>
            <a:ext cx="407432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746558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·17.97%</a:t>
            </a:r>
            <a:endParaRPr lang="en-US" sz="700" dirty="0"/>
          </a:p>
        </p:txBody>
      </p:sp>
      <p:sp>
        <p:nvSpPr>
          <p:cNvPr id="16" name="Text 11"/>
          <p:cNvSpPr/>
          <p:nvPr/>
        </p:nvSpPr>
        <p:spPr>
          <a:xfrm>
            <a:off x="5700355" y="3648908"/>
            <a:ext cx="24527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746558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700" dirty="0"/>
          </a:p>
        </p:txBody>
      </p:sp>
      <p:sp>
        <p:nvSpPr>
          <p:cNvPr id="17" name="Shape 12"/>
          <p:cNvSpPr/>
          <p:nvPr/>
        </p:nvSpPr>
        <p:spPr>
          <a:xfrm>
            <a:off x="5063728" y="3851553"/>
            <a:ext cx="774859" cy="164544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7068" y="3888105"/>
            <a:ext cx="91440" cy="914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235178" y="3874413"/>
            <a:ext cx="546259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746558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New·2.13%</a:t>
            </a:r>
            <a:endParaRPr lang="en-US" sz="700" dirty="0"/>
          </a:p>
        </p:txBody>
      </p:sp>
      <p:sp>
        <p:nvSpPr>
          <p:cNvPr id="20" name="Text 14"/>
          <p:cNvSpPr/>
          <p:nvPr/>
        </p:nvSpPr>
        <p:spPr>
          <a:xfrm>
            <a:off x="5426393" y="3874413"/>
            <a:ext cx="355044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746558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·2.13%</a:t>
            </a:r>
            <a:endParaRPr lang="en-US" sz="700" dirty="0"/>
          </a:p>
        </p:txBody>
      </p:sp>
      <p:sp>
        <p:nvSpPr>
          <p:cNvPr id="21" name="Text 15"/>
          <p:cNvSpPr/>
          <p:nvPr/>
        </p:nvSpPr>
        <p:spPr>
          <a:xfrm>
            <a:off x="5462945" y="3874413"/>
            <a:ext cx="24527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746558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700" dirty="0"/>
          </a:p>
        </p:txBody>
      </p:sp>
      <p:sp>
        <p:nvSpPr>
          <p:cNvPr id="22" name="Text 16"/>
          <p:cNvSpPr/>
          <p:nvPr/>
        </p:nvSpPr>
        <p:spPr>
          <a:xfrm>
            <a:off x="7595116" y="1875949"/>
            <a:ext cx="2842141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Segment Breakdown</a:t>
            </a:r>
            <a:endParaRPr lang="en-US" sz="2150" dirty="0"/>
          </a:p>
        </p:txBody>
      </p:sp>
      <p:sp>
        <p:nvSpPr>
          <p:cNvPr id="23" name="Text 17"/>
          <p:cNvSpPr/>
          <p:nvPr/>
        </p:nvSpPr>
        <p:spPr>
          <a:xfrm>
            <a:off x="7595116" y="2444591"/>
            <a:ext cx="626149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Among customers with </a:t>
            </a:r>
            <a:pPr algn="l" indent="0" marL="0">
              <a:lnSpc>
                <a:spcPts val="2750"/>
              </a:lnSpc>
              <a:buNone/>
            </a:pPr>
            <a:r>
              <a:rPr lang="en-US" sz="175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&gt;5 purchases</a:t>
            </a:r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, </a:t>
            </a:r>
            <a:pPr algn="l" indent="0" marL="0">
              <a:lnSpc>
                <a:spcPts val="2750"/>
              </a:lnSpc>
              <a:buNone/>
            </a:pPr>
            <a:r>
              <a:rPr lang="en-US" sz="175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958 are subscribed</a:t>
            </a:r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vs. 2,518 non-subscribed — repeat buyers skew non-subscriber.</a:t>
            </a:r>
            <a:endParaRPr lang="en-US" sz="1750" dirty="0"/>
          </a:p>
        </p:txBody>
      </p:sp>
      <p:sp>
        <p:nvSpPr>
          <p:cNvPr id="24" name="Shape 18"/>
          <p:cNvSpPr/>
          <p:nvPr/>
        </p:nvSpPr>
        <p:spPr>
          <a:xfrm>
            <a:off x="781407" y="5904071"/>
            <a:ext cx="4209336" cy="1696760"/>
          </a:xfrm>
          <a:prstGeom prst="roundRect">
            <a:avLst>
              <a:gd name="adj" fmla="val 1974"/>
            </a:avLst>
          </a:prstGeom>
          <a:solidFill>
            <a:srgbClr val="F9F6F0"/>
          </a:solidFill>
          <a:ln w="30480">
            <a:solidFill>
              <a:srgbClr val="D4CEC3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1035129" y="6157793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Loyal — 3,116</a:t>
            </a:r>
            <a:endParaRPr lang="en-US" sz="2150" dirty="0"/>
          </a:p>
        </p:txBody>
      </p:sp>
      <p:sp>
        <p:nvSpPr>
          <p:cNvPr id="26" name="Text 20"/>
          <p:cNvSpPr/>
          <p:nvPr/>
        </p:nvSpPr>
        <p:spPr>
          <a:xfrm>
            <a:off x="1035129" y="6638449"/>
            <a:ext cx="370189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dominant segment. High purchase history, strong retention.</a:t>
            </a:r>
            <a:endParaRPr lang="en-US" sz="1750" dirty="0"/>
          </a:p>
        </p:txBody>
      </p:sp>
      <p:sp>
        <p:nvSpPr>
          <p:cNvPr id="27" name="Shape 21"/>
          <p:cNvSpPr/>
          <p:nvPr/>
        </p:nvSpPr>
        <p:spPr>
          <a:xfrm>
            <a:off x="5210532" y="5904071"/>
            <a:ext cx="4209336" cy="1696760"/>
          </a:xfrm>
          <a:prstGeom prst="roundRect">
            <a:avLst>
              <a:gd name="adj" fmla="val 1974"/>
            </a:avLst>
          </a:prstGeom>
          <a:solidFill>
            <a:srgbClr val="F9F6F0"/>
          </a:solidFill>
          <a:ln w="30480">
            <a:solidFill>
              <a:srgbClr val="D4CEC3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5464254" y="6157793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Returning — 701</a:t>
            </a:r>
            <a:endParaRPr lang="en-US" sz="2150" dirty="0"/>
          </a:p>
        </p:txBody>
      </p:sp>
      <p:sp>
        <p:nvSpPr>
          <p:cNvPr id="29" name="Text 23"/>
          <p:cNvSpPr/>
          <p:nvPr/>
        </p:nvSpPr>
        <p:spPr>
          <a:xfrm>
            <a:off x="5464254" y="6638449"/>
            <a:ext cx="370189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Repeat buyers with growth potential toward Loyal status.</a:t>
            </a:r>
            <a:endParaRPr lang="en-US" sz="1750" dirty="0"/>
          </a:p>
        </p:txBody>
      </p:sp>
      <p:sp>
        <p:nvSpPr>
          <p:cNvPr id="30" name="Shape 24"/>
          <p:cNvSpPr/>
          <p:nvPr/>
        </p:nvSpPr>
        <p:spPr>
          <a:xfrm>
            <a:off x="9639657" y="5904071"/>
            <a:ext cx="4209336" cy="1696760"/>
          </a:xfrm>
          <a:prstGeom prst="roundRect">
            <a:avLst>
              <a:gd name="adj" fmla="val 1974"/>
            </a:avLst>
          </a:prstGeom>
          <a:solidFill>
            <a:srgbClr val="F9F6F0"/>
          </a:solidFill>
          <a:ln w="30480">
            <a:solidFill>
              <a:srgbClr val="D4CEC3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9893379" y="6157793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New — 83</a:t>
            </a:r>
            <a:endParaRPr lang="en-US" sz="2150" dirty="0"/>
          </a:p>
        </p:txBody>
      </p:sp>
      <p:sp>
        <p:nvSpPr>
          <p:cNvPr id="32" name="Text 26"/>
          <p:cNvSpPr/>
          <p:nvPr/>
        </p:nvSpPr>
        <p:spPr>
          <a:xfrm>
            <a:off x="9893379" y="6638449"/>
            <a:ext cx="370189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Small but valuable pipeline for future loyalty conversion.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376" y="581858"/>
            <a:ext cx="9764197" cy="523779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9376" y="6098977"/>
            <a:ext cx="5252204" cy="642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Power BI Dashboard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719376" y="7020639"/>
            <a:ext cx="13191649" cy="62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An interactive dashboard visualizes all key insights with filters for </a:t>
            </a:r>
            <a:pPr algn="l" indent="0" marL="0">
              <a:lnSpc>
                <a:spcPts val="2450"/>
              </a:lnSpc>
              <a:buNone/>
            </a:pPr>
            <a:r>
              <a:rPr lang="en-US" sz="16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Subscription Status, Gender, Category,</a:t>
            </a:r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and </a:t>
            </a:r>
            <a:pPr algn="l" indent="0" marL="0">
              <a:lnSpc>
                <a:spcPts val="2450"/>
              </a:lnSpc>
              <a:buNone/>
            </a:pPr>
            <a:r>
              <a:rPr lang="en-US" sz="16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Shipping Type</a:t>
            </a:r>
            <a:pPr algn="l" indent="0" marL="0">
              <a:lnSpc>
                <a:spcPts val="245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— featuring donut, bar, and horizontal bar charts across revenue and sales dimensions.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43082"/>
            <a:ext cx="787074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Business Recommendations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005489"/>
            <a:ext cx="4196358" cy="2577108"/>
          </a:xfrm>
          <a:prstGeom prst="roundRect">
            <a:avLst>
              <a:gd name="adj" fmla="val 1320"/>
            </a:avLst>
          </a:prstGeom>
          <a:solidFill>
            <a:srgbClr val="EEE8DD"/>
          </a:solidFill>
          <a:ln/>
        </p:spPr>
      </p:sp>
      <p:sp>
        <p:nvSpPr>
          <p:cNvPr id="4" name="Shape 2"/>
          <p:cNvSpPr/>
          <p:nvPr/>
        </p:nvSpPr>
        <p:spPr>
          <a:xfrm>
            <a:off x="1020604" y="223230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D3C5B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07770" y="2419350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604" y="31395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Boost Subscriptions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0604" y="3629978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Promote exclusive benefits to convert non-subscribers.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2005489"/>
            <a:ext cx="4196358" cy="2577108"/>
          </a:xfrm>
          <a:prstGeom prst="roundRect">
            <a:avLst>
              <a:gd name="adj" fmla="val 1320"/>
            </a:avLst>
          </a:prstGeom>
          <a:solidFill>
            <a:srgbClr val="EEE8DD"/>
          </a:solidFill>
          <a:ln/>
        </p:spPr>
      </p:sp>
      <p:sp>
        <p:nvSpPr>
          <p:cNvPr id="9" name="Shape 6"/>
          <p:cNvSpPr/>
          <p:nvPr/>
        </p:nvSpPr>
        <p:spPr>
          <a:xfrm>
            <a:off x="5443776" y="223230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D3C5B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0942" y="2419350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43776" y="31395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Loyalty Programs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43776" y="3629978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Reward repeat buyers to accelerate movement into the Loyal segment.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40133" y="2005489"/>
            <a:ext cx="4196358" cy="2577108"/>
          </a:xfrm>
          <a:prstGeom prst="roundRect">
            <a:avLst>
              <a:gd name="adj" fmla="val 1320"/>
            </a:avLst>
          </a:prstGeom>
          <a:solidFill>
            <a:srgbClr val="EEE8DD"/>
          </a:solidFill>
          <a:ln/>
        </p:spPr>
      </p:sp>
      <p:sp>
        <p:nvSpPr>
          <p:cNvPr id="14" name="Shape 10"/>
          <p:cNvSpPr/>
          <p:nvPr/>
        </p:nvSpPr>
        <p:spPr>
          <a:xfrm>
            <a:off x="9866948" y="223230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D3C5B6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54114" y="2419350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66948" y="3139559"/>
            <a:ext cx="325469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Review Discount Policy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66948" y="3629978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Balance sales boosts with margin control on high-discount products.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93790" y="4809411"/>
            <a:ext cx="6407944" cy="2577108"/>
          </a:xfrm>
          <a:prstGeom prst="roundRect">
            <a:avLst>
              <a:gd name="adj" fmla="val 1320"/>
            </a:avLst>
          </a:prstGeom>
          <a:solidFill>
            <a:srgbClr val="EEE8DD"/>
          </a:solidFill>
          <a:ln/>
        </p:spPr>
      </p:sp>
      <p:sp>
        <p:nvSpPr>
          <p:cNvPr id="19" name="Shape 14"/>
          <p:cNvSpPr/>
          <p:nvPr/>
        </p:nvSpPr>
        <p:spPr>
          <a:xfrm>
            <a:off x="1020604" y="503622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D3C5B6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07770" y="5223272"/>
            <a:ext cx="306110" cy="30611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20604" y="59434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Targeted Marketing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1020604" y="6433899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Focus on high-revenue age groups and express-shipping users.</a:t>
            </a:r>
            <a:endParaRPr lang="en-US" sz="1750" dirty="0"/>
          </a:p>
        </p:txBody>
      </p:sp>
      <p:sp>
        <p:nvSpPr>
          <p:cNvPr id="23" name="Shape 17"/>
          <p:cNvSpPr/>
          <p:nvPr/>
        </p:nvSpPr>
        <p:spPr>
          <a:xfrm>
            <a:off x="7428548" y="4809411"/>
            <a:ext cx="6407944" cy="2577108"/>
          </a:xfrm>
          <a:prstGeom prst="roundRect">
            <a:avLst>
              <a:gd name="adj" fmla="val 1320"/>
            </a:avLst>
          </a:prstGeom>
          <a:solidFill>
            <a:srgbClr val="EEE8DD"/>
          </a:solidFill>
          <a:ln/>
        </p:spPr>
      </p:sp>
      <p:sp>
        <p:nvSpPr>
          <p:cNvPr id="24" name="Shape 18"/>
          <p:cNvSpPr/>
          <p:nvPr/>
        </p:nvSpPr>
        <p:spPr>
          <a:xfrm>
            <a:off x="7655362" y="503622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D3C5B6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42528" y="5223272"/>
            <a:ext cx="306110" cy="30611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655362" y="59434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Product Positioning</a:t>
            </a:r>
            <a:endParaRPr lang="en-US" sz="2200" dirty="0"/>
          </a:p>
        </p:txBody>
      </p:sp>
      <p:sp>
        <p:nvSpPr>
          <p:cNvPr id="27" name="Text 20"/>
          <p:cNvSpPr/>
          <p:nvPr/>
        </p:nvSpPr>
        <p:spPr>
          <a:xfrm>
            <a:off x="7655362" y="6433899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Highlight top-rated and best-selling products in campaigns.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2026-05-04T18:35:51Z</dcterms:created>
  <dcterms:modified xsi:type="dcterms:W3CDTF">2026-05-04T18:35:51Z</dcterms:modified>
</cp:coreProperties>
</file>